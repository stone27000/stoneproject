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2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77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301" r:id="rId19"/>
    <p:sldId id="308" r:id="rId20"/>
    <p:sldId id="271" r:id="rId21"/>
    <p:sldId id="272" r:id="rId22"/>
    <p:sldId id="274" r:id="rId23"/>
    <p:sldId id="275" r:id="rId24"/>
    <p:sldId id="276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62" y="4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6379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F7021451-1387-4CA6-816F-3879F97B5CBC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17</a:t>
            </a:fld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742660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902559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58942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30778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86392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52521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23996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1430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2901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60373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48017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619532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6370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0640096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0" y="3391793"/>
            <a:ext cx="571500" cy="38100"/>
          </a:xfrm>
          <a:prstGeom prst="rect">
            <a:avLst/>
          </a:prstGeom>
          <a:solidFill>
            <a:srgbClr val="F59E0B"/>
          </a:solidFill>
          <a:ln/>
        </p:spPr>
        <p:txBody>
          <a:bodyPr wrap="none" lIns="0" tIns="0" rIns="0" bIns="0" rtlCol="0" anchor="ctr">
            <a:normAutofit fontScale="25000" lnSpcReduction="20000"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721772" y="846912"/>
            <a:ext cx="5531081" cy="973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200"/>
              </a:lnSpc>
              <a:buNone/>
            </a:pPr>
            <a:r>
              <a:rPr lang="en-US" sz="6600" b="1" dirty="0">
                <a:solidFill>
                  <a:schemeClr val="bg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全端電商平台</a:t>
            </a:r>
            <a:endParaRPr lang="en-US" sz="6600" dirty="0">
              <a:solidFill>
                <a:schemeClr val="bg2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2351251" y="2124968"/>
            <a:ext cx="444135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Full-Stack </a:t>
            </a: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E-Commerce</a:t>
            </a: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Platform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144277" y="2782193"/>
            <a:ext cx="285544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Eric, Vincent, Stone, Barry, Alex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347847" y="3582293"/>
            <a:ext cx="1909953" cy="470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8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完整的多賣家電商平台系統整合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68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簡報大綱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360140"/>
            <a:ext cx="7924800" cy="3531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900000" indent="-900000">
              <a:lnSpc>
                <a:spcPts val="2000"/>
              </a:lnSpc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➊ </a:t>
            </a:r>
            <a:r>
              <a:rPr lang="en-US" sz="2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專案介紹</a:t>
            </a:r>
            <a:r>
              <a:rPr lang="en-US" sz="2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- </a:t>
            </a:r>
            <a:r>
              <a:rPr lang="en-US" sz="2400" dirty="0" err="1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系統概述與技術堆棧</a:t>
            </a:r>
            <a:endParaRPr lang="en-US" sz="2400" dirty="0">
              <a:solidFill>
                <a:srgbClr val="1F2937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900000" indent="-900000">
              <a:lnSpc>
                <a:spcPts val="2000"/>
              </a:lnSpc>
              <a:buSzPct val="100000"/>
              <a:buChar char="•"/>
            </a:pPr>
            <a:endParaRPr lang="en-US" sz="2400" dirty="0"/>
          </a:p>
          <a:p>
            <a:pPr marL="900000" indent="-900000">
              <a:lnSpc>
                <a:spcPts val="2000"/>
              </a:lnSpc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➋ </a:t>
            </a:r>
            <a:r>
              <a:rPr lang="en-US" sz="2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使用案例（Use Case）</a:t>
            </a:r>
            <a:r>
              <a:rPr lang="en-US" sz="2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- </a:t>
            </a:r>
            <a:r>
              <a:rPr lang="en-US" sz="2400" dirty="0" err="1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核心功能與使用者角色</a:t>
            </a:r>
            <a:endParaRPr lang="en-US" sz="2400" dirty="0">
              <a:solidFill>
                <a:srgbClr val="1F2937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900000" indent="-900000">
              <a:lnSpc>
                <a:spcPts val="2000"/>
              </a:lnSpc>
              <a:buSzPct val="100000"/>
              <a:buChar char="•"/>
            </a:pPr>
            <a:endParaRPr lang="en-US" sz="2400" dirty="0"/>
          </a:p>
          <a:p>
            <a:pPr marL="900000" indent="-900000">
              <a:lnSpc>
                <a:spcPts val="2000"/>
              </a:lnSpc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➌ </a:t>
            </a:r>
            <a:r>
              <a:rPr lang="en-US" sz="2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系統功能說明</a:t>
            </a:r>
            <a:r>
              <a:rPr lang="en-US" sz="2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- </a:t>
            </a:r>
            <a:r>
              <a:rPr lang="en-US" sz="2400" dirty="0" err="1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詳細功能介紹</a:t>
            </a:r>
            <a:endParaRPr lang="en-US" sz="2400" dirty="0">
              <a:solidFill>
                <a:srgbClr val="1F2937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900000" indent="-900000">
              <a:lnSpc>
                <a:spcPts val="2000"/>
              </a:lnSpc>
              <a:buSzPct val="100000"/>
              <a:buChar char="•"/>
            </a:pPr>
            <a:endParaRPr lang="en-US" sz="2400" dirty="0"/>
          </a:p>
          <a:p>
            <a:pPr marL="900000" indent="-900000">
              <a:lnSpc>
                <a:spcPts val="2000"/>
              </a:lnSpc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➍ </a:t>
            </a:r>
            <a:r>
              <a:rPr lang="en-US" sz="2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資料庫模型圖</a:t>
            </a:r>
            <a:r>
              <a:rPr lang="en-US" sz="2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- </a:t>
            </a:r>
            <a:r>
              <a:rPr lang="en-US" sz="2400" dirty="0" err="1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資料結構設計</a:t>
            </a:r>
            <a:endParaRPr lang="en-US" sz="2400" dirty="0">
              <a:solidFill>
                <a:srgbClr val="1F2937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>
              <a:lnSpc>
                <a:spcPts val="2000"/>
              </a:lnSpc>
              <a:buSzPct val="100000"/>
            </a:pPr>
            <a:endParaRPr lang="en-US" sz="2400" dirty="0"/>
          </a:p>
          <a:p>
            <a:pPr marL="900000" indent="-900000">
              <a:lnSpc>
                <a:spcPts val="2000"/>
              </a:lnSpc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➎ </a:t>
            </a:r>
            <a:r>
              <a:rPr lang="en-US" sz="2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前端程式架構</a:t>
            </a:r>
            <a:r>
              <a:rPr lang="en-US" sz="2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- </a:t>
            </a:r>
            <a:r>
              <a:rPr lang="en-US" sz="2400" dirty="0" err="1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前端技術實現</a:t>
            </a:r>
            <a:endParaRPr lang="en-US" sz="2400" dirty="0">
              <a:solidFill>
                <a:srgbClr val="1F2937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900000" indent="-900000">
              <a:lnSpc>
                <a:spcPts val="2000"/>
              </a:lnSpc>
              <a:buSzPct val="100000"/>
              <a:buChar char="•"/>
            </a:pPr>
            <a:endParaRPr lang="en-US" sz="2400" dirty="0"/>
          </a:p>
          <a:p>
            <a:pPr marL="900000" indent="-900000">
              <a:lnSpc>
                <a:spcPts val="2000"/>
              </a:lnSpc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➏ </a:t>
            </a:r>
            <a:r>
              <a:rPr lang="en-US" sz="2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後端程式架構</a:t>
            </a:r>
            <a:r>
              <a:rPr lang="en-US" sz="2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- </a:t>
            </a:r>
            <a:r>
              <a:rPr lang="en-US" sz="2400" dirty="0" err="1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後端系統設計</a:t>
            </a:r>
            <a:endParaRPr lang="en-US" sz="2400" dirty="0">
              <a:solidFill>
                <a:srgbClr val="1F2937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900000" indent="-900000">
              <a:lnSpc>
                <a:spcPts val="2000"/>
              </a:lnSpc>
              <a:buSzPct val="100000"/>
              <a:buChar char="•"/>
            </a:pPr>
            <a:endParaRPr lang="en-US" sz="2400" dirty="0"/>
          </a:p>
          <a:p>
            <a:pPr marL="900000" indent="-900000">
              <a:lnSpc>
                <a:spcPts val="2000"/>
              </a:lnSpc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➐ </a:t>
            </a:r>
            <a:r>
              <a:rPr lang="en-US" sz="2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綠界支付整合</a:t>
            </a:r>
            <a:r>
              <a:rPr lang="en-US" sz="2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- 第三方支付系統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097435"/>
            <a:ext cx="7924800" cy="1131540"/>
          </a:xfrm>
          <a:prstGeom prst="rect">
            <a:avLst/>
          </a:prstGeom>
          <a:solidFill>
            <a:srgbClr val="DBEAFE"/>
          </a:solidFill>
          <a:ln/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457911"/>
            <a:ext cx="7924800" cy="1131540"/>
          </a:xfrm>
          <a:prstGeom prst="rect">
            <a:avLst/>
          </a:prstGeom>
          <a:solidFill>
            <a:srgbClr val="DBEAFE"/>
          </a:solidFill>
          <a:ln/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68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專案介紹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09600" y="1487835"/>
            <a:ext cx="808329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功能完整的全端電商平台</a:t>
            </a: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- 模擬多賣家市集（如蝦皮、Amazon）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52500" y="2219325"/>
            <a:ext cx="742264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後端 (Backend)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2466975"/>
            <a:ext cx="742264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 Spring Boot 構建，包含 JWT 安全認證、RESTful API、JPA 資料庫管理和多角色權限控制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52500" y="3503265"/>
            <a:ext cx="742264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 (Frontend)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52500" y="3750915"/>
            <a:ext cx="742264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Vanilla JavaScript (ES6+)、HTML5 和 CSS3，不依賴框架，專注 Fetch API 與非同步頁面渲染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8083296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68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使用案例（Use Case）</a:t>
            </a:r>
            <a:endParaRPr lang="en-US" sz="2700" dirty="0"/>
          </a:p>
        </p:txBody>
      </p:sp>
      <p:graphicFrame>
        <p:nvGraphicFramePr>
          <p:cNvPr id="3" name="Google Shape;73;p16">
            <a:extLst>
              <a:ext uri="{FF2B5EF4-FFF2-40B4-BE49-F238E27FC236}">
                <a16:creationId xmlns:a16="http://schemas.microsoft.com/office/drawing/2014/main" id="{9DB6FF95-31F7-3A5E-679E-7E4FCAEBFA0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86113317"/>
              </p:ext>
            </p:extLst>
          </p:nvPr>
        </p:nvGraphicFramePr>
        <p:xfrm>
          <a:off x="285196" y="548641"/>
          <a:ext cx="8617900" cy="447518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36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0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10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9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726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項目</a:t>
                      </a:r>
                      <a:endParaRPr sz="1200" dirty="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使用案例 (Use Case)</a:t>
                      </a:r>
                      <a:endParaRPr sz="1200" dirty="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包含功能/說明</a:t>
                      </a:r>
                      <a:endParaRPr sz="1200" dirty="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相關角色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26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用戶認證 (Authentication)</a:t>
                      </a:r>
                      <a:endParaRPr sz="1200" dirty="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註冊、登入、發送 Email 驗證碼、重設密碼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Public, Buyer, Seller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26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II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商品瀏覽 (Product Browsing)</a:t>
                      </a:r>
                      <a:endParaRPr sz="1200" dirty="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瀏覽商品列表、查看商品詳情</a:t>
                      </a:r>
                      <a:endParaRPr sz="1200" dirty="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Public, Buyer, Seller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26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III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購物車管理 (Cart Management)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加入購物車、修改/刪除購物車項目</a:t>
                      </a:r>
                      <a:endParaRPr sz="1200" dirty="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Buyer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726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IV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訂單結帳 (Order Checkout)</a:t>
                      </a:r>
                      <a:endParaRPr sz="1200" dirty="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執行結帳流程，自動進行多賣家拆單</a:t>
                      </a:r>
                      <a:endParaRPr sz="1200" dirty="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Buyer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726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V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買家訂單查詢 (Buyer Order Inquiry)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查詢買家自己的訂單列表與詳情</a:t>
                      </a:r>
                      <a:endParaRPr sz="1200" dirty="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Buyer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524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VI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評價管理 (Rating Management)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買家： 建立/更新商品評價 。賣家： 查詢商品評價 。</a:t>
                      </a:r>
                      <a:endParaRPr sz="1200" dirty="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Buyer, Seller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726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VII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買家錢包儲值 (Buyer Wallet Top-up)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增加電子錢包餘額</a:t>
                      </a:r>
                      <a:endParaRPr sz="1200" dirty="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Buyer</a:t>
                      </a:r>
                      <a:endParaRPr sz="1200" dirty="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726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VIII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賣家商品管理 (Seller Product Mgt.)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新增商品 (上架)、修改/刪除商品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Seller</a:t>
                      </a:r>
                      <a:endParaRPr sz="1200" dirty="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726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IX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賣家訂單查詢 (Seller Order Inquiry)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查詢賣家收到的訂單列表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Seller</a:t>
                      </a:r>
                      <a:endParaRPr sz="1200" dirty="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726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X</a:t>
                      </a:r>
                      <a:endParaRPr sz="1200" dirty="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賣家提款管理 (Seller Withdrawal)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設定提款帳戶、申請錢包提款</a:t>
                      </a:r>
                      <a:endParaRPr sz="12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Seller</a:t>
                      </a:r>
                      <a:endParaRPr sz="1200" dirty="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726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/>
                        <a:t>XI</a:t>
                      </a:r>
                      <a:endParaRPr sz="1200" dirty="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dirty="0"/>
                        <a:t>後臺管理員</a:t>
                      </a:r>
                      <a:endParaRPr sz="1200" dirty="0"/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dirty="0"/>
                        <a:t>報表數據與會員管理</a:t>
                      </a:r>
                      <a:endParaRPr sz="1200" dirty="0"/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dirty="0"/>
                        <a:t>Admin</a:t>
                      </a:r>
                      <a:endParaRPr sz="1200" dirty="0"/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518898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10767"/>
            <a:ext cx="3810000" cy="273532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724400" y="1610767"/>
            <a:ext cx="3720353" cy="273532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68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系統功能說明 - 認證與商品管理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1915567"/>
            <a:ext cx="326440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🔐 用戶認證系統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19200" y="2325142"/>
            <a:ext cx="28956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JWT Token </a:t>
            </a:r>
            <a:r>
              <a:rPr lang="en-US" sz="2400" dirty="0" err="1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認證</a:t>
            </a:r>
            <a:endParaRPr lang="en-US" sz="2400" dirty="0">
              <a:solidFill>
                <a:srgbClr val="1F2937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endParaRPr lang="en-US" sz="24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Email </a:t>
            </a:r>
            <a:r>
              <a:rPr lang="en-US" sz="2400" dirty="0" err="1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驗證碼機制</a:t>
            </a:r>
            <a:endParaRPr lang="en-US" sz="2400" dirty="0">
              <a:solidFill>
                <a:srgbClr val="1F2937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endParaRPr lang="en-US" sz="24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2400" dirty="0" err="1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密碼重設功能</a:t>
            </a:r>
            <a:endParaRPr lang="en-US" sz="2400" dirty="0">
              <a:solidFill>
                <a:srgbClr val="1F2937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endParaRPr lang="en-US" sz="24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2400" dirty="0" err="1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角色權限分級</a:t>
            </a:r>
            <a:endParaRPr lang="en-US" sz="2400" dirty="0">
              <a:solidFill>
                <a:srgbClr val="1F2937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endParaRPr lang="en-US" sz="2000" dirty="0">
              <a:solidFill>
                <a:srgbClr val="1F2937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(RBAC)</a:t>
            </a:r>
            <a:r>
              <a:rPr lang="en-US" altLang="zh-TW" sz="2000" dirty="0"/>
              <a:t> 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0" y="1915567"/>
            <a:ext cx="326440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🛍️ 商品與分類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334000" y="2325142"/>
            <a:ext cx="28956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2400" dirty="0" err="1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商品詳細資料</a:t>
            </a:r>
            <a:endParaRPr lang="en-US" sz="2400" dirty="0">
              <a:solidFill>
                <a:srgbClr val="1F2937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endParaRPr lang="en-US" sz="24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2400" dirty="0" err="1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分類篩選搜尋</a:t>
            </a:r>
            <a:endParaRPr lang="en-US" sz="2400" dirty="0">
              <a:solidFill>
                <a:srgbClr val="1F2937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endParaRPr lang="en-US" sz="24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2400" dirty="0" err="1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商品圖片管理</a:t>
            </a:r>
            <a:endParaRPr lang="en-US" sz="2400" dirty="0">
              <a:solidFill>
                <a:srgbClr val="1F2937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endParaRPr lang="en-US" sz="24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庫存管理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10767"/>
            <a:ext cx="3810000" cy="259615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724400" y="1610767"/>
            <a:ext cx="3810000" cy="259615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68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系統功能說明 - 購物與訂單流程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1915567"/>
            <a:ext cx="326440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🛒 購物車系統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19200" y="2325142"/>
            <a:ext cx="28956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加入/</a:t>
            </a:r>
            <a:r>
              <a:rPr lang="en-US" sz="2400" dirty="0" err="1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移除商品</a:t>
            </a:r>
            <a:endParaRPr lang="en-US" sz="2400" dirty="0">
              <a:solidFill>
                <a:srgbClr val="1F2937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endParaRPr lang="en-US" sz="24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2400" dirty="0" err="1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修改購買數量</a:t>
            </a:r>
            <a:endParaRPr lang="en-US" sz="2400" dirty="0">
              <a:solidFill>
                <a:srgbClr val="1F2937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endParaRPr lang="en-US" sz="24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2400" dirty="0" err="1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自動計算金額</a:t>
            </a:r>
            <a:endParaRPr lang="en-US" sz="2400" dirty="0">
              <a:solidFill>
                <a:srgbClr val="1F2937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endParaRPr lang="en-US" sz="24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持久化儲存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0" y="1915567"/>
            <a:ext cx="326440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📦 訂單管理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334000" y="2325142"/>
            <a:ext cx="28956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2400" dirty="0" err="1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訂單建立與拆單</a:t>
            </a:r>
            <a:endParaRPr lang="en-US" sz="2400" dirty="0">
              <a:solidFill>
                <a:srgbClr val="1F2937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endParaRPr lang="en-US" sz="24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2400" dirty="0" err="1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訂單狀態追蹤</a:t>
            </a:r>
            <a:endParaRPr lang="en-US" sz="2400" dirty="0">
              <a:solidFill>
                <a:srgbClr val="1F2937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endParaRPr lang="en-US" sz="24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2400" dirty="0" err="1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多賣家聚合</a:t>
            </a:r>
            <a:endParaRPr lang="en-US" sz="2400" dirty="0">
              <a:solidFill>
                <a:srgbClr val="1F2937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endParaRPr lang="en-US" sz="24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訂單歷史查詢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10767"/>
            <a:ext cx="3810000" cy="259615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724400" y="1610767"/>
            <a:ext cx="3810000" cy="259615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68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系統功能說明 - 評價與賣家管理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1915567"/>
            <a:ext cx="326440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⭐ 評價系統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19200" y="2325142"/>
            <a:ext cx="28956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2400" dirty="0" err="1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買家撰寫評價</a:t>
            </a:r>
            <a:endParaRPr lang="en-US" sz="2400" dirty="0">
              <a:solidFill>
                <a:srgbClr val="1F2937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endParaRPr lang="en-US" sz="2400" dirty="0">
              <a:solidFill>
                <a:srgbClr val="1F2937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endParaRPr lang="en-US" sz="24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2400" dirty="0" err="1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評價顯示與查詢</a:t>
            </a:r>
            <a:endParaRPr lang="en-US" sz="2400" dirty="0">
              <a:solidFill>
                <a:srgbClr val="1F2937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endParaRPr lang="en-US" sz="2400" dirty="0">
              <a:solidFill>
                <a:srgbClr val="1F2937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endParaRPr lang="en-US" sz="24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2400" dirty="0" err="1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平均評分計算</a:t>
            </a:r>
            <a:endParaRPr lang="en-US" sz="2400" dirty="0">
              <a:solidFill>
                <a:srgbClr val="1F2937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endParaRPr lang="en-US" sz="2400" dirty="0">
              <a:solidFill>
                <a:srgbClr val="1F2937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endParaRPr lang="en-US" sz="24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評論管理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0" y="1915567"/>
            <a:ext cx="326440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🏪 賣家後台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334000" y="2325142"/>
            <a:ext cx="28956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商品上架/</a:t>
            </a:r>
            <a:r>
              <a:rPr lang="en-US" sz="2400" dirty="0" err="1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下架</a:t>
            </a:r>
            <a:endParaRPr lang="en-US" sz="2400" dirty="0">
              <a:solidFill>
                <a:srgbClr val="1F2937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endParaRPr lang="en-US" sz="2400" dirty="0">
              <a:solidFill>
                <a:srgbClr val="1F2937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endParaRPr lang="en-US" sz="24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2400" dirty="0" err="1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庫存異動管理</a:t>
            </a:r>
            <a:endParaRPr lang="en-US" sz="2400" dirty="0">
              <a:solidFill>
                <a:srgbClr val="1F2937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endParaRPr lang="en-US" sz="2400" dirty="0">
              <a:solidFill>
                <a:srgbClr val="1F2937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endParaRPr lang="en-US" sz="24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2400" dirty="0" err="1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訂單管理與出貨</a:t>
            </a:r>
            <a:endParaRPr lang="en-US" sz="2400" dirty="0">
              <a:solidFill>
                <a:srgbClr val="1F2937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endParaRPr lang="en-US" sz="2400" dirty="0">
              <a:solidFill>
                <a:srgbClr val="1F2937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endParaRPr lang="en-US" sz="24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銷售統計分析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15;p23">
            <a:extLst>
              <a:ext uri="{FF2B5EF4-FFF2-40B4-BE49-F238E27FC236}">
                <a16:creationId xmlns:a16="http://schemas.microsoft.com/office/drawing/2014/main" id="{2A4430A4-ADF1-DF13-0BA2-7D3C6826693B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70650" y="0"/>
            <a:ext cx="62733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07F3F7FD-536F-0915-0695-C6EB8629225B}"/>
              </a:ext>
            </a:extLst>
          </p:cNvPr>
          <p:cNvSpPr/>
          <p:nvPr/>
        </p:nvSpPr>
        <p:spPr>
          <a:xfrm>
            <a:off x="125506" y="214062"/>
            <a:ext cx="2531633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68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資</a:t>
            </a:r>
            <a:r>
              <a:rPr lang="zh-TW" altLang="en-US" sz="27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27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料</a:t>
            </a:r>
            <a:r>
              <a:rPr lang="zh-TW" altLang="en-US" sz="27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27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庫</a:t>
            </a:r>
            <a:r>
              <a:rPr lang="zh-TW" altLang="en-US" sz="27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模 型</a:t>
            </a:r>
            <a:endParaRPr lang="en-US" sz="2700" dirty="0"/>
          </a:p>
        </p:txBody>
      </p:sp>
    </p:spTree>
    <p:extLst>
      <p:ext uri="{BB962C8B-B14F-4D97-AF65-F5344CB8AC3E}">
        <p14:creationId xmlns:p14="http://schemas.microsoft.com/office/powerpoint/2010/main" val="37777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824" y="1825079"/>
            <a:ext cx="2895600" cy="2167533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52800" y="1825079"/>
            <a:ext cx="2667000" cy="2167533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5999" y="1825079"/>
            <a:ext cx="2714513" cy="2167533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68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資料庫設計 - 核心實體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38200" y="2053679"/>
            <a:ext cx="202082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用戶與認證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15696" y="2644229"/>
            <a:ext cx="2548128" cy="1462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b="1" dirty="0" err="1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</a:t>
            </a:r>
            <a:r>
              <a:rPr lang="en-US" dirty="0" err="1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：用戶基本資料</a:t>
            </a:r>
            <a:endParaRPr lang="en-US" dirty="0">
              <a:solidFill>
                <a:srgbClr val="1F2937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endParaRPr lang="en-US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b="1" dirty="0" err="1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Role</a:t>
            </a:r>
            <a:r>
              <a:rPr lang="en-US" dirty="0" err="1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：角色權限</a:t>
            </a:r>
            <a:endParaRPr lang="en-US" dirty="0">
              <a:solidFill>
                <a:srgbClr val="1F2937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endParaRPr lang="en-US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b="1" dirty="0" err="1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VerificationCode</a:t>
            </a:r>
            <a:r>
              <a:rPr lang="en-US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endParaRPr lang="en-US" dirty="0">
              <a:solidFill>
                <a:srgbClr val="1F2937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>
              <a:lnSpc>
                <a:spcPts val="1440"/>
              </a:lnSpc>
              <a:buSzPct val="100000"/>
            </a:pPr>
            <a:r>
              <a:rPr lang="en-US" dirty="0" err="1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驗證碼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581400" y="2053679"/>
            <a:ext cx="202082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商品與分類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352800" y="2529122"/>
            <a:ext cx="2895598" cy="1919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b="1" dirty="0" err="1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Category</a:t>
            </a:r>
            <a:r>
              <a:rPr lang="en-US" dirty="0" err="1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：商品分類</a:t>
            </a:r>
            <a:endParaRPr lang="en-US" dirty="0">
              <a:solidFill>
                <a:srgbClr val="1F2937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endParaRPr lang="en-US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b="1" dirty="0" err="1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Product</a:t>
            </a:r>
            <a:r>
              <a:rPr lang="en-US" dirty="0" err="1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：商品資訊</a:t>
            </a:r>
            <a:endParaRPr lang="en-US" dirty="0">
              <a:solidFill>
                <a:srgbClr val="1F2937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endParaRPr lang="en-US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b="1" dirty="0" err="1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ProductImage</a:t>
            </a:r>
            <a:r>
              <a:rPr lang="en-US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endParaRPr lang="en-US" dirty="0">
              <a:solidFill>
                <a:srgbClr val="1F2937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>
              <a:lnSpc>
                <a:spcPts val="1440"/>
              </a:lnSpc>
              <a:buSzPct val="100000"/>
            </a:pPr>
            <a:r>
              <a:rPr lang="en-US" dirty="0" err="1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商品圖片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324600" y="2053679"/>
            <a:ext cx="202082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購物與訂單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096000" y="2529122"/>
            <a:ext cx="2895599" cy="1691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b="1" dirty="0" err="1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Cart</a:t>
            </a:r>
            <a:r>
              <a:rPr lang="en-US" dirty="0" err="1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：購物車</a:t>
            </a:r>
            <a:endParaRPr lang="en-US" dirty="0">
              <a:solidFill>
                <a:srgbClr val="1F2937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endParaRPr lang="en-US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b="1" dirty="0" err="1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Order</a:t>
            </a:r>
            <a:r>
              <a:rPr lang="en-US" dirty="0" err="1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：訂單</a:t>
            </a:r>
            <a:endParaRPr lang="en-US" dirty="0">
              <a:solidFill>
                <a:srgbClr val="1F2937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endParaRPr lang="en-US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OrderItem</a:t>
            </a:r>
            <a:r>
              <a:rPr lang="en-US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：訂單項目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32607"/>
            <a:ext cx="7924800" cy="1131540"/>
          </a:xfrm>
          <a:prstGeom prst="rect">
            <a:avLst/>
          </a:prstGeom>
          <a:solidFill>
            <a:srgbClr val="DBEAFE"/>
          </a:solidFill>
          <a:ln/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2616547"/>
            <a:ext cx="4114800" cy="1868537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724400" y="2616547"/>
            <a:ext cx="3810000" cy="1868537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68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前端架構 - Vanilla JavaScript 實現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52500" y="1637407"/>
            <a:ext cx="742264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技術棧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52500" y="1885057"/>
            <a:ext cx="742264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2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ES6+ JavaScript、HTML5、CSS3 (無框架依賴)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38200" y="2845147"/>
            <a:ext cx="341985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🔄 非同步頁面渲染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12693" y="3445222"/>
            <a:ext cx="4011707" cy="1154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368"/>
              </a:lnSpc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Fetch API</a:t>
            </a:r>
            <a:r>
              <a:rPr lang="zh-TW" altLang="en-US" sz="2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與</a:t>
            </a:r>
            <a:r>
              <a:rPr lang="en-US" sz="2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Async/Await</a:t>
            </a:r>
          </a:p>
          <a:p>
            <a:pPr marL="342900" indent="-342900">
              <a:lnSpc>
                <a:spcPts val="1368"/>
              </a:lnSpc>
              <a:buSzPct val="100000"/>
              <a:buChar char="•"/>
            </a:pPr>
            <a:endParaRPr lang="en-US" sz="2400" dirty="0"/>
          </a:p>
          <a:p>
            <a:pPr marL="342900" indent="-342900">
              <a:lnSpc>
                <a:spcPts val="1368"/>
              </a:lnSpc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DOM </a:t>
            </a:r>
            <a:r>
              <a:rPr lang="en-US" sz="2400" dirty="0" err="1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動態更新</a:t>
            </a:r>
            <a:endParaRPr lang="en-US" sz="2400" dirty="0">
              <a:solidFill>
                <a:srgbClr val="1F2937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342900" indent="-342900">
              <a:lnSpc>
                <a:spcPts val="1368"/>
              </a:lnSpc>
              <a:buSzPct val="100000"/>
              <a:buChar char="•"/>
            </a:pPr>
            <a:endParaRPr lang="en-US" sz="2400" dirty="0"/>
          </a:p>
          <a:p>
            <a:pPr marL="342900" indent="-342900">
              <a:lnSpc>
                <a:spcPts val="1368"/>
              </a:lnSpc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事件驅動架構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953000" y="2845147"/>
            <a:ext cx="341985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📱 頁面組件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257800" y="3330922"/>
            <a:ext cx="3048000" cy="1154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368"/>
              </a:lnSpc>
              <a:buSzPct val="100000"/>
              <a:buChar char="•"/>
            </a:pPr>
            <a:r>
              <a:rPr lang="en-US" sz="2400" dirty="0" err="1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商品列表與詳情</a:t>
            </a:r>
            <a:endParaRPr lang="en-US" sz="2400" dirty="0">
              <a:solidFill>
                <a:srgbClr val="1F2937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342900" indent="-342900">
              <a:lnSpc>
                <a:spcPts val="1368"/>
              </a:lnSpc>
              <a:buSzPct val="100000"/>
              <a:buChar char="•"/>
            </a:pPr>
            <a:endParaRPr lang="en-US" sz="2400" dirty="0"/>
          </a:p>
          <a:p>
            <a:pPr marL="342900" indent="-342900">
              <a:lnSpc>
                <a:spcPts val="1368"/>
              </a:lnSpc>
              <a:buSzPct val="100000"/>
              <a:buChar char="•"/>
            </a:pPr>
            <a:r>
              <a:rPr lang="en-US" sz="2400" dirty="0" err="1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購物車互動</a:t>
            </a:r>
            <a:endParaRPr lang="en-US" sz="2400" dirty="0">
              <a:solidFill>
                <a:srgbClr val="1F2937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342900" indent="-342900">
              <a:lnSpc>
                <a:spcPts val="1368"/>
              </a:lnSpc>
              <a:buSzPct val="100000"/>
              <a:buChar char="•"/>
            </a:pPr>
            <a:endParaRPr lang="en-US" sz="2400" dirty="0"/>
          </a:p>
          <a:p>
            <a:pPr marL="342900" indent="-342900">
              <a:lnSpc>
                <a:spcPts val="1368"/>
              </a:lnSpc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訂單追蹤頁面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32607"/>
            <a:ext cx="7924800" cy="1131540"/>
          </a:xfrm>
          <a:prstGeom prst="rect">
            <a:avLst/>
          </a:prstGeom>
          <a:solidFill>
            <a:srgbClr val="DBEAFE"/>
          </a:solidFill>
          <a:ln/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616547"/>
            <a:ext cx="2438400" cy="1868537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352800" y="2616547"/>
            <a:ext cx="2438400" cy="1868537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0" y="2616547"/>
            <a:ext cx="2438400" cy="1868537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8083296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68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後端架構 - Spring Boot 系統設計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52500" y="1637407"/>
            <a:ext cx="742264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技術棧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52500" y="1885057"/>
            <a:ext cx="742264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 Spring Boot、Spring Security (JWT)、JPA/Hibernate、MySQL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38200" y="2845147"/>
            <a:ext cx="202082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安全認證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43000" y="3102322"/>
            <a:ext cx="1676400" cy="1154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368"/>
              </a:lnSpc>
              <a:buSzPct val="100000"/>
              <a:buChar char="•"/>
            </a:pPr>
            <a:r>
              <a:rPr lang="en-US" sz="114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JWT Token 機制</a:t>
            </a:r>
            <a:endParaRPr lang="en-US" sz="1140" dirty="0"/>
          </a:p>
          <a:p>
            <a:pPr marL="342900" indent="-342900">
              <a:lnSpc>
                <a:spcPts val="1368"/>
              </a:lnSpc>
              <a:buSzPct val="100000"/>
              <a:buChar char="•"/>
            </a:pPr>
            <a:r>
              <a:rPr lang="en-US" sz="114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Security 整合</a:t>
            </a:r>
            <a:endParaRPr lang="en-US" sz="1140" dirty="0"/>
          </a:p>
          <a:p>
            <a:pPr marL="342900" indent="-342900">
              <a:lnSpc>
                <a:spcPts val="1368"/>
              </a:lnSpc>
              <a:buSzPct val="100000"/>
              <a:buChar char="•"/>
            </a:pPr>
            <a:r>
              <a:rPr lang="en-US" sz="114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RBAC 權限控制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3581400" y="2845147"/>
            <a:ext cx="202082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📡 API 層架構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886200" y="3102322"/>
            <a:ext cx="1676400" cy="1154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368"/>
              </a:lnSpc>
              <a:buSzPct val="100000"/>
              <a:buChar char="•"/>
            </a:pPr>
            <a:r>
              <a:rPr lang="en-US" sz="114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RESTful 設計規範</a:t>
            </a:r>
            <a:endParaRPr lang="en-US" sz="1140" dirty="0"/>
          </a:p>
          <a:p>
            <a:pPr marL="342900" indent="-342900">
              <a:lnSpc>
                <a:spcPts val="1368"/>
              </a:lnSpc>
              <a:buSzPct val="100000"/>
              <a:buChar char="•"/>
            </a:pPr>
            <a:r>
              <a:rPr lang="en-US" sz="114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Controller 路由控制</a:t>
            </a:r>
            <a:endParaRPr lang="en-US" sz="1140" dirty="0"/>
          </a:p>
          <a:p>
            <a:pPr marL="342900" indent="-342900">
              <a:lnSpc>
                <a:spcPts val="1368"/>
              </a:lnSpc>
              <a:buSzPct val="100000"/>
              <a:buChar char="•"/>
            </a:pPr>
            <a:r>
              <a:rPr lang="en-US" sz="114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統一異常處理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6324600" y="2845147"/>
            <a:ext cx="202082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💾 資料層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629400" y="3102322"/>
            <a:ext cx="1676400" cy="1154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368"/>
              </a:lnSpc>
              <a:buSzPct val="100000"/>
              <a:buChar char="•"/>
            </a:pPr>
            <a:r>
              <a:rPr lang="en-US" sz="114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JPA Repository 模式</a:t>
            </a:r>
            <a:endParaRPr lang="en-US" sz="1140" dirty="0"/>
          </a:p>
          <a:p>
            <a:pPr marL="342900" indent="-342900">
              <a:lnSpc>
                <a:spcPts val="1368"/>
              </a:lnSpc>
              <a:buSzPct val="100000"/>
              <a:buChar char="•"/>
            </a:pPr>
            <a:r>
              <a:rPr lang="en-US" sz="114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DAO 資料存取層</a:t>
            </a:r>
            <a:endParaRPr lang="en-US" sz="1140" dirty="0"/>
          </a:p>
          <a:p>
            <a:pPr marL="342900" indent="-342900">
              <a:lnSpc>
                <a:spcPts val="1368"/>
              </a:lnSpc>
              <a:buSzPct val="100000"/>
              <a:buChar char="•"/>
            </a:pPr>
            <a:r>
              <a:rPr lang="en-US" sz="114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事務管理</a:t>
            </a:r>
            <a:endParaRPr lang="en-US" sz="11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0" y="2799308"/>
            <a:ext cx="571500" cy="38100"/>
          </a:xfrm>
          <a:prstGeom prst="rect">
            <a:avLst/>
          </a:prstGeom>
          <a:solidFill>
            <a:srgbClr val="F59E0B"/>
          </a:solidFill>
          <a:ln/>
        </p:spPr>
        <p:txBody>
          <a:bodyPr wrap="none" lIns="0" tIns="0" rIns="0" bIns="0" rtlCol="0" anchor="ctr">
            <a:normAutofit fontScale="25000" lnSpcReduction="20000"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784122" y="1462013"/>
            <a:ext cx="5575756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68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綠界第三方支付整合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2079974" y="2142083"/>
            <a:ext cx="498405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ECPay Payment </a:t>
            </a:r>
            <a:r>
              <a:rPr lang="en-US" sz="20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Gateway</a:t>
            </a:r>
            <a:r>
              <a:rPr lang="en-US" sz="21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Integration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687563" y="3165053"/>
            <a:ext cx="3768874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完整的在線支付解決方案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6263" y="163860"/>
            <a:ext cx="8083296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68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綠界支付流程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764620"/>
            <a:ext cx="808329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20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❶ 結帳頁面</a:t>
            </a: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- 買家點擊「立即結帳」按鈕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09600" y="2191310"/>
            <a:ext cx="808329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20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❷ 訂單建立</a:t>
            </a: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- 系統計算購物車金額與商品明細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09600" y="2565266"/>
            <a:ext cx="808329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20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❸ 參數準備</a:t>
            </a: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- 產生綠界所需參數 + SHA-256 簽章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09600" y="2991957"/>
            <a:ext cx="808329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20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❹ 自動跳轉</a:t>
            </a: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- 送出自動提交的 HTML 表單到綠界頁面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09600" y="3418647"/>
            <a:ext cx="808329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20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❺ 支付完成</a:t>
            </a: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- 用戶選擇付款方式（信用卡、超商、ATM）並完成付款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09600" y="3838426"/>
            <a:ext cx="808329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20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❻ 回調通知</a:t>
            </a: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- 綠界回傳 /notify，系統驗證並自動建立訂單紀錄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1648" y="789088"/>
            <a:ext cx="3810000" cy="244375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46448" y="789088"/>
            <a:ext cx="3810000" cy="244375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31648" y="3385246"/>
            <a:ext cx="7924800" cy="1141065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3152" y="18929"/>
            <a:ext cx="8083296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68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綠界支付 - 後端主要模組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36448" y="1093888"/>
            <a:ext cx="326440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 ECPayController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41248" y="1351063"/>
            <a:ext cx="28956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@GetMapping("/createOrder")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取得購物車商品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計算訂單總價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產生支付表單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51248" y="1093888"/>
            <a:ext cx="326440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📬 NotifyController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56048" y="1351063"/>
            <a:ext cx="28956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@PostMapping("/notify")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接收付款結果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驗證簽章安全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觸發訂單建立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6448" y="3690046"/>
            <a:ext cx="746150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🔐 ECPayUtil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36448" y="3947221"/>
            <a:ext cx="746150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簽章產生與驗證工具 - SHA-256 加密、參數排序、URL 編碼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664927"/>
            <a:ext cx="7924800" cy="1141065"/>
          </a:xfrm>
          <a:prstGeom prst="rect">
            <a:avLst/>
          </a:prstGeom>
          <a:solidFill>
            <a:srgbClr val="DBEAFE"/>
          </a:solidFill>
          <a:ln/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1958392"/>
            <a:ext cx="3810000" cy="3175099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114800" y="1958392"/>
            <a:ext cx="3810000" cy="3175099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10312" y="46062"/>
            <a:ext cx="8083296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68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綠界支付 - 簽章安全機制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342900" y="969727"/>
            <a:ext cx="742264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CheckMacValue 簽章驗證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42900" y="1226902"/>
            <a:ext cx="742264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所有交易參數使用 SHA-256 檢查碼，確保資料完整性與防竄改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04800" y="2263192"/>
            <a:ext cx="326440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簽章產生步驟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09600" y="2520367"/>
            <a:ext cx="2895600" cy="2308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368"/>
              </a:lnSpc>
              <a:buSzPct val="100000"/>
              <a:buChar char="•"/>
            </a:pPr>
            <a:r>
              <a:rPr lang="en-US" sz="13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</a:t>
            </a:r>
            <a:r>
              <a:rPr lang="en-US" sz="114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過濾空值參數</a:t>
            </a:r>
            <a:endParaRPr lang="en-US" sz="1140" dirty="0"/>
          </a:p>
          <a:p>
            <a:pPr marL="342900" indent="-342900">
              <a:lnSpc>
                <a:spcPts val="1368"/>
              </a:lnSpc>
              <a:buSzPct val="100000"/>
              <a:buChar char="•"/>
            </a:pPr>
            <a:r>
              <a:rPr lang="en-US" sz="13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</a:t>
            </a:r>
            <a:r>
              <a:rPr lang="en-US" sz="114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參數依名稱排序</a:t>
            </a:r>
            <a:endParaRPr lang="en-US" sz="1140" dirty="0"/>
          </a:p>
          <a:p>
            <a:pPr marL="342900" indent="-342900">
              <a:lnSpc>
                <a:spcPts val="1368"/>
              </a:lnSpc>
              <a:buSzPct val="100000"/>
              <a:buChar char="•"/>
            </a:pPr>
            <a:r>
              <a:rPr lang="en-US" sz="13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</a:t>
            </a:r>
            <a:r>
              <a:rPr lang="en-US" sz="114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組合字串 (HashKey &amp; 參數 &amp; HashIV)</a:t>
            </a:r>
            <a:endParaRPr lang="en-US" sz="1140" dirty="0"/>
          </a:p>
          <a:p>
            <a:pPr marL="342900" indent="-342900">
              <a:lnSpc>
                <a:spcPts val="1368"/>
              </a:lnSpc>
              <a:buSzPct val="100000"/>
              <a:buChar char="•"/>
            </a:pPr>
            <a:r>
              <a:rPr lang="en-US" sz="13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</a:t>
            </a:r>
            <a:r>
              <a:rPr lang="en-US" sz="114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URL Encode</a:t>
            </a:r>
            <a:endParaRPr lang="en-US" sz="1140" dirty="0"/>
          </a:p>
          <a:p>
            <a:pPr marL="342900" indent="-342900">
              <a:lnSpc>
                <a:spcPts val="1368"/>
              </a:lnSpc>
              <a:buSzPct val="100000"/>
              <a:buChar char="•"/>
            </a:pPr>
            <a:r>
              <a:rPr lang="en-US" sz="13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</a:t>
            </a:r>
            <a:r>
              <a:rPr lang="en-US" sz="114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SHA-256 加密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4419600" y="2263192"/>
            <a:ext cx="326440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驗證過程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24400" y="2520367"/>
            <a:ext cx="28956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368"/>
              </a:lnSpc>
              <a:buSzPct val="100000"/>
              <a:buChar char="•"/>
            </a:pPr>
            <a:r>
              <a:rPr lang="en-US" sz="114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接收綠界回傳的 CheckMacValue</a:t>
            </a:r>
            <a:endParaRPr lang="en-US" sz="1140" dirty="0"/>
          </a:p>
          <a:p>
            <a:pPr marL="342900" indent="-342900">
              <a:lnSpc>
                <a:spcPts val="1368"/>
              </a:lnSpc>
              <a:buSzPct val="100000"/>
              <a:buChar char="•"/>
            </a:pPr>
            <a:r>
              <a:rPr lang="en-US" sz="114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使用相同演算法重新計算</a:t>
            </a:r>
            <a:endParaRPr lang="en-US" sz="1140" dirty="0"/>
          </a:p>
          <a:p>
            <a:pPr marL="342900" indent="-342900">
              <a:lnSpc>
                <a:spcPts val="1368"/>
              </a:lnSpc>
              <a:buSzPct val="100000"/>
              <a:buChar char="•"/>
            </a:pPr>
            <a:r>
              <a:rPr lang="en-US" sz="114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比對兩個簽章是否相等</a:t>
            </a:r>
            <a:endParaRPr lang="en-US" sz="1140" dirty="0"/>
          </a:p>
          <a:p>
            <a:pPr marL="342900" indent="-342900">
              <a:lnSpc>
                <a:spcPts val="1368"/>
              </a:lnSpc>
              <a:buSzPct val="100000"/>
              <a:buChar char="•"/>
            </a:pPr>
            <a:r>
              <a:rPr lang="en-US" sz="114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成功則建立訂單</a:t>
            </a:r>
            <a:endParaRPr lang="en-US" sz="114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00" y="703027"/>
            <a:ext cx="7924800" cy="1415355"/>
          </a:xfrm>
          <a:prstGeom prst="rect">
            <a:avLst/>
          </a:prstGeom>
          <a:solidFill>
            <a:srgbClr val="DBEAFE"/>
          </a:solidFill>
          <a:ln/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52400" y="2270783"/>
            <a:ext cx="3810000" cy="244375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267200" y="2270783"/>
            <a:ext cx="3810000" cy="244375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37160" y="11757"/>
            <a:ext cx="8083296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68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綠界支付 - 編碼與兼容性處理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95300" y="1007827"/>
            <a:ext cx="742264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⚙️ 關鍵設定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95300" y="1265002"/>
            <a:ext cx="7277100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request.setCharacterEncoding("UTF-8")</a:t>
            </a:r>
            <a:r>
              <a:rPr lang="en-US" sz="13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- 強制設定回調請求編碼，避免中文或特殊符號驗證失敗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2575583"/>
            <a:ext cx="326440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🌍 UTF-8 編碼需求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62000" y="2832758"/>
            <a:ext cx="28956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368"/>
              </a:lnSpc>
              <a:buSzPct val="100000"/>
              <a:buChar char="•"/>
            </a:pPr>
            <a:r>
              <a:rPr lang="en-US" sz="114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中文字符正確識別</a:t>
            </a:r>
            <a:endParaRPr lang="en-US" sz="1140" dirty="0"/>
          </a:p>
          <a:p>
            <a:pPr marL="342900" indent="-342900">
              <a:lnSpc>
                <a:spcPts val="1368"/>
              </a:lnSpc>
              <a:buSzPct val="100000"/>
              <a:buChar char="•"/>
            </a:pPr>
            <a:r>
              <a:rPr lang="en-US" sz="114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特殊符號完整保留</a:t>
            </a:r>
            <a:endParaRPr lang="en-US" sz="1140" dirty="0"/>
          </a:p>
          <a:p>
            <a:pPr marL="342900" indent="-342900">
              <a:lnSpc>
                <a:spcPts val="1368"/>
              </a:lnSpc>
              <a:buSzPct val="100000"/>
              <a:buChar char="•"/>
            </a:pPr>
            <a:r>
              <a:rPr lang="en-US" sz="114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CheckMacValue 簽章不失敗</a:t>
            </a:r>
            <a:endParaRPr lang="en-US" sz="1140" dirty="0"/>
          </a:p>
          <a:p>
            <a:pPr marL="342900" indent="-342900">
              <a:lnSpc>
                <a:spcPts val="1368"/>
              </a:lnSpc>
              <a:buSzPct val="100000"/>
              <a:buChar char="•"/>
            </a:pPr>
            <a:r>
              <a:rPr lang="en-US" sz="114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訂單備註與商品名稱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4572000" y="2575583"/>
            <a:ext cx="326440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🎫 CustomField1 機制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76800" y="2832758"/>
            <a:ext cx="28956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368"/>
              </a:lnSpc>
              <a:buSzPct val="100000"/>
              <a:buChar char="•"/>
            </a:pPr>
            <a:r>
              <a:rPr lang="en-US" sz="114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傳遞使用者 ID 到綠界</a:t>
            </a:r>
            <a:endParaRPr lang="en-US" sz="1140" dirty="0"/>
          </a:p>
          <a:p>
            <a:pPr marL="342900" indent="-342900">
              <a:lnSpc>
                <a:spcPts val="1368"/>
              </a:lnSpc>
              <a:buSzPct val="100000"/>
              <a:buChar char="•"/>
            </a:pPr>
            <a:r>
              <a:rPr lang="en-US" sz="114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回調時綠界帶回此值</a:t>
            </a:r>
            <a:endParaRPr lang="en-US" sz="1140" dirty="0"/>
          </a:p>
          <a:p>
            <a:pPr marL="342900" indent="-342900">
              <a:lnSpc>
                <a:spcPts val="1368"/>
              </a:lnSpc>
              <a:buSzPct val="100000"/>
              <a:buChar char="•"/>
            </a:pPr>
            <a:r>
              <a:rPr lang="en-US" sz="114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用以正確對應訂單</a:t>
            </a:r>
            <a:endParaRPr lang="en-US" sz="1140" dirty="0"/>
          </a:p>
          <a:p>
            <a:pPr marL="342900" indent="-342900">
              <a:lnSpc>
                <a:spcPts val="1368"/>
              </a:lnSpc>
              <a:buSzPct val="100000"/>
              <a:buChar char="•"/>
            </a:pPr>
            <a:r>
              <a:rPr lang="en-US" sz="114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安全識別購買者</a:t>
            </a:r>
            <a:endParaRPr lang="en-US" sz="114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" y="746058"/>
            <a:ext cx="3810000" cy="244375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Text 1"/>
          <p:cNvSpPr/>
          <p:nvPr/>
        </p:nvSpPr>
        <p:spPr>
          <a:xfrm>
            <a:off x="4187952" y="746058"/>
            <a:ext cx="3810000" cy="244375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" y="3342216"/>
            <a:ext cx="7924800" cy="1415355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" y="72717"/>
            <a:ext cx="8083296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46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700" b="1" i="0" u="none" strike="noStrike" kern="0" cap="none" spc="0" normalizeH="0" baseline="0" noProof="0" dirty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  <a:sym typeface="Arial"/>
              </a:rPr>
              <a:t>綠界支付 - 安全最佳實踐</a:t>
            </a:r>
            <a:endParaRPr kumimoji="0" lang="en-US" sz="2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" name="Text 4"/>
          <p:cNvSpPr/>
          <p:nvPr/>
        </p:nvSpPr>
        <p:spPr>
          <a:xfrm>
            <a:off x="377952" y="1050858"/>
            <a:ext cx="326440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  <a:sym typeface="Arial"/>
              </a:rPr>
              <a:t>🔐 簽章驗證</a:t>
            </a:r>
            <a:endParaRPr kumimoji="0" lang="en-US" sz="1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Text 5"/>
          <p:cNvSpPr/>
          <p:nvPr/>
        </p:nvSpPr>
        <p:spPr>
          <a:xfrm>
            <a:off x="682752" y="1308033"/>
            <a:ext cx="28956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  <a:sym typeface="Arial"/>
              </a:rPr>
              <a:t>✓ 每筆交易必須驗證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  <a:sym typeface="Arial"/>
              </a:rPr>
              <a:t>✓ SHA-256 加密算法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  <a:sym typeface="Arial"/>
              </a:rPr>
              <a:t>✓ 參數完整性檢查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  <a:sym typeface="Arial"/>
              </a:rPr>
              <a:t>✓ 防止資料竄改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" name="Text 6"/>
          <p:cNvSpPr/>
          <p:nvPr/>
        </p:nvSpPr>
        <p:spPr>
          <a:xfrm>
            <a:off x="4492752" y="1050858"/>
            <a:ext cx="326440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  <a:sym typeface="Arial"/>
              </a:rPr>
              <a:t>🛡️ 資訊安全</a:t>
            </a:r>
            <a:endParaRPr kumimoji="0" lang="en-US" sz="1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9" name="Text 7"/>
          <p:cNvSpPr/>
          <p:nvPr/>
        </p:nvSpPr>
        <p:spPr>
          <a:xfrm>
            <a:off x="4797552" y="1308033"/>
            <a:ext cx="28956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  <a:sym typeface="Arial"/>
              </a:rPr>
              <a:t>✓ HTTPS 加密傳輸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  <a:sym typeface="Arial"/>
              </a:rPr>
              <a:t>✓ 敏感資訊保護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  <a:sym typeface="Arial"/>
              </a:rPr>
              <a:t>✓ API Key 機密管理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  <a:sym typeface="Arial"/>
              </a:rPr>
              <a:t>✓ 日誌記錄與審計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77952" y="3647016"/>
            <a:ext cx="746150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  <a:sym typeface="Arial"/>
              </a:rPr>
              <a:t>💡 開發提示</a:t>
            </a:r>
            <a:endParaRPr kumimoji="0" lang="en-US" sz="1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77952" y="3904191"/>
            <a:ext cx="7315200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  <a:sym typeface="Arial"/>
              </a:rPr>
              <a:t>測試環境中，如遇編碼不一致且交易成功 (RtnCode=1)，可暫時允許略過簽章驗證以便除錯。生產環境必須啟用嚴格驗證。</a:t>
            </a: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398426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6408" y="500063"/>
            <a:ext cx="7924800" cy="1095376"/>
          </a:xfrm>
          <a:prstGeom prst="rect">
            <a:avLst/>
          </a:prstGeom>
          <a:solidFill>
            <a:srgbClr val="DBEAFE"/>
          </a:solidFill>
          <a:ln/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  <p:sp>
        <p:nvSpPr>
          <p:cNvPr id="3" name="Text 1"/>
          <p:cNvSpPr/>
          <p:nvPr/>
        </p:nvSpPr>
        <p:spPr>
          <a:xfrm>
            <a:off x="216408" y="1700686"/>
            <a:ext cx="3810000" cy="1861245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  <p:sp>
        <p:nvSpPr>
          <p:cNvPr id="4" name="Text 2"/>
          <p:cNvSpPr/>
          <p:nvPr/>
        </p:nvSpPr>
        <p:spPr>
          <a:xfrm>
            <a:off x="4363212" y="1703932"/>
            <a:ext cx="3810000" cy="1861245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  <p:sp>
        <p:nvSpPr>
          <p:cNvPr id="5" name="Text 3"/>
          <p:cNvSpPr/>
          <p:nvPr/>
        </p:nvSpPr>
        <p:spPr>
          <a:xfrm>
            <a:off x="248412" y="3693068"/>
            <a:ext cx="7924800" cy="1415355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  <p:sp>
        <p:nvSpPr>
          <p:cNvPr id="6" name="Text 4"/>
          <p:cNvSpPr/>
          <p:nvPr/>
        </p:nvSpPr>
        <p:spPr>
          <a:xfrm>
            <a:off x="146304" y="0"/>
            <a:ext cx="8083296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4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  <a:sym typeface="Arial"/>
              </a:rPr>
              <a:t>本地開發環境設定重點 - Ngrok 外網穿透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  <p:sp>
        <p:nvSpPr>
          <p:cNvPr id="7" name="Text 5"/>
          <p:cNvSpPr/>
          <p:nvPr/>
        </p:nvSpPr>
        <p:spPr>
          <a:xfrm>
            <a:off x="289560" y="612121"/>
            <a:ext cx="742264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  <a:sym typeface="Arial"/>
              </a:rPr>
              <a:t>⚠️ 重要提示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  <p:sp>
        <p:nvSpPr>
          <p:cNvPr id="8" name="Text 6"/>
          <p:cNvSpPr/>
          <p:nvPr/>
        </p:nvSpPr>
        <p:spPr>
          <a:xfrm>
            <a:off x="559308" y="845552"/>
            <a:ext cx="7277100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  <a:sym typeface="Arial"/>
              </a:rPr>
              <a:t>綠界回調 URL 不能使用 localhost！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  <a:sym typeface="Arial"/>
              </a:rPr>
              <a:t> 必須使用公開可訪問的網址，本地開發環境使用 Ngrok 建立外網穿透隧道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  <p:sp>
        <p:nvSpPr>
          <p:cNvPr id="9" name="Text 7"/>
          <p:cNvSpPr/>
          <p:nvPr/>
        </p:nvSpPr>
        <p:spPr>
          <a:xfrm>
            <a:off x="216408" y="1757211"/>
            <a:ext cx="326440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  <a:sym typeface="Arial"/>
              </a:rPr>
              <a:t>🌐 Ngrok 設定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66340" y="2127371"/>
            <a:ext cx="3760067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  <a:sym typeface="Arial"/>
              </a:rPr>
              <a:t>下載並安裝 Ngrok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  <a:sym typeface="Arial"/>
              </a:rPr>
              <a:t>執行：</a:t>
            </a: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  <a:sym typeface="Arial"/>
              </a:rPr>
              <a:t>ngrok http 8080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  <a:sym typeface="Arial"/>
              </a:rPr>
              <a:t>取得公開 URL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  <a:sym typeface="Arial"/>
              </a:rPr>
              <a:t>格式：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  <a:sym typeface="Arial"/>
              </a:rPr>
              <a:t>https://xxxxx.ngrok-free.dev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447794" y="1757211"/>
            <a:ext cx="326440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  <a:sym typeface="Arial"/>
              </a:rPr>
              <a:t>⚙️ 配置範例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447794" y="2071678"/>
            <a:ext cx="3693414" cy="1493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  <a:sym typeface="Arial"/>
              </a:rPr>
              <a:t>application.properties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  <a:sym typeface="Arial"/>
              </a:rPr>
              <a:t>ecpay.return.url=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  <a:sym typeface="Arial"/>
              </a:rPr>
              <a:t>https://gayla-unbriefed-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  <a:sym typeface="Arial"/>
              </a:rPr>
              <a:t>unreluctantly.ngrok-free.dev/notify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74904" y="4074043"/>
            <a:ext cx="746150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  <a:sym typeface="Arial"/>
              </a:rPr>
              <a:t>✅ 測試流程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48056" y="4331218"/>
            <a:ext cx="7315200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  <a:sym typeface="Arial"/>
              </a:rPr>
              <a:t>啟動 Ngrok → 更新 application.properties 配置 → 重啟 Spring Boot 應用 → 完成綠界支付流程測試 → 生產環境時更改為真實域名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297907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725984"/>
            <a:ext cx="7781925" cy="3920133"/>
          </a:xfrm>
          <a:prstGeom prst="rect">
            <a:avLst/>
          </a:prstGeom>
          <a:solidFill>
            <a:srgbClr val="1F2937"/>
          </a:solidFill>
          <a:ln/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9629" y="49798"/>
            <a:ext cx="8083296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68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綠界支付 - 程式碼範例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38200" y="1400324"/>
            <a:ext cx="747121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訂單建立與表單產生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38200" y="1674614"/>
            <a:ext cx="747121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@GetMapping("/createOrder")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38200" y="1948904"/>
            <a:ext cx="747121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String createOrder() throws Exception {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90600" y="2223195"/>
            <a:ext cx="7315771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UserPO buyer = authHelperService.getCurrentAuthenticatedBuyer();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90600" y="2497485"/>
            <a:ext cx="7172325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CartPO cart = cartDAO.findByUser_UserId(buyer.getUserId()).orElseThrow(...);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90600" y="3046065"/>
            <a:ext cx="7315771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BigDecimal totalAmount = calculateCartTotal(cart);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90600" y="3320355"/>
            <a:ext cx="7172325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checkMacValue = ECPayUtil.genCheckMacValue(params, hashKey, hashIV);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90600" y="3868936"/>
            <a:ext cx="7315771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返回自動提交表單...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38200" y="4143226"/>
            <a:ext cx="747121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725984"/>
            <a:ext cx="7781925" cy="3920133"/>
          </a:xfrm>
          <a:prstGeom prst="rect">
            <a:avLst/>
          </a:prstGeom>
          <a:solidFill>
            <a:srgbClr val="1F2937"/>
          </a:solidFill>
          <a:ln/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0028" y="70977"/>
            <a:ext cx="8083296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68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綠界支付 - 回調通知處理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38200" y="1400324"/>
            <a:ext cx="747121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綠界 Notify 回調 API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38200" y="1674614"/>
            <a:ext cx="747121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@PostMapping("/notify")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38200" y="1948904"/>
            <a:ext cx="747121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String receiveNotify(HttpServletRequest request) {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90600" y="2223195"/>
            <a:ext cx="7315771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request.setCharacterEncoding("UTF-8"); </a:t>
            </a:r>
            <a:r>
              <a:rPr lang="en-US" sz="13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編碼設定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90600" y="2497485"/>
            <a:ext cx="7315771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Map&lt;String, String&gt; params = parseRequest(request);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90600" y="2771775"/>
            <a:ext cx="7315771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 isValid = ECPayUtil.checkMacValue(params, hashKey, hashIV);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90600" y="3046065"/>
            <a:ext cx="7315771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(isValid &amp;&amp; "1".equals(params.get("RtnCode"))) {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143000" y="3320355"/>
            <a:ext cx="716032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orderService.processEcpayCheckout(userId, amount, tradeNo);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43000" y="3594646"/>
            <a:ext cx="716032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"1|OK";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90600" y="3868936"/>
            <a:ext cx="7315771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38200" y="4143226"/>
            <a:ext cx="747121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8537" y="92125"/>
            <a:ext cx="8083296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68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系統整體架構流程圖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532747" y="1283940"/>
            <a:ext cx="207835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8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👤 用戶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532747" y="1558230"/>
            <a:ext cx="207835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120"/>
              </a:lnSpc>
              <a:buNone/>
            </a:pPr>
            <a:r>
              <a:rPr lang="en-US" sz="20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532747" y="2045791"/>
            <a:ext cx="2835780" cy="290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8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🛒 前端（購物車頁面）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532747" y="2320082"/>
            <a:ext cx="207835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120"/>
              </a:lnSpc>
              <a:buNone/>
            </a:pPr>
            <a:r>
              <a:rPr lang="en-US" sz="20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962590" y="2834794"/>
            <a:ext cx="366411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8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📡 後端 Spring Boot API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532747" y="3081933"/>
            <a:ext cx="207835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120"/>
              </a:lnSpc>
              <a:buNone/>
            </a:pPr>
            <a:r>
              <a:rPr lang="en-US" sz="20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532747" y="3569494"/>
            <a:ext cx="207835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8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💳 綠界支付網關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532747" y="3843784"/>
            <a:ext cx="207835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120"/>
              </a:lnSpc>
              <a:buNone/>
            </a:pPr>
            <a:r>
              <a:rPr lang="en-US" sz="20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001370" y="4519113"/>
            <a:ext cx="3093962" cy="48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8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訂單建立與紀錄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10312" y="33784"/>
            <a:ext cx="8083296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68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專案技術亮點與成果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612391" y="1332017"/>
            <a:ext cx="326440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</a:t>
            </a:r>
            <a:r>
              <a:rPr lang="en-US" sz="28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核心亮點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46404" y="1850315"/>
            <a:ext cx="3505200" cy="2075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0"/>
              </a:lnSpc>
              <a:buSzPct val="100000"/>
              <a:buChar char="•"/>
            </a:pPr>
            <a:endParaRPr lang="en-US" sz="2000" dirty="0">
              <a:solidFill>
                <a:srgbClr val="1F2937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2200" dirty="0" err="1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完整的多賣家拆單系統</a:t>
            </a:r>
            <a:endParaRPr lang="en-US" sz="2200" dirty="0">
              <a:solidFill>
                <a:srgbClr val="1F2937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endParaRPr lang="en-US" sz="2200" dirty="0">
              <a:solidFill>
                <a:srgbClr val="1F2937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endParaRPr lang="en-US" sz="2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JWT </a:t>
            </a:r>
            <a:r>
              <a:rPr lang="en-US" sz="2200" dirty="0" err="1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安全認證與權限管理</a:t>
            </a:r>
            <a:endParaRPr lang="en-US" sz="2200" dirty="0">
              <a:solidFill>
                <a:srgbClr val="1F2937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endParaRPr lang="en-US" sz="2200" dirty="0">
              <a:solidFill>
                <a:srgbClr val="1F2937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endParaRPr lang="en-US" sz="2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SHA-256 </a:t>
            </a:r>
            <a:r>
              <a:rPr lang="en-US" sz="2200" dirty="0" err="1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支付簽章機制</a:t>
            </a:r>
            <a:endParaRPr lang="en-US" sz="2200" dirty="0">
              <a:solidFill>
                <a:srgbClr val="1F2937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endParaRPr lang="en-US" sz="2200" dirty="0">
              <a:solidFill>
                <a:srgbClr val="1F2937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endParaRPr lang="en-US" sz="2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RESTful API 設計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152284" y="1332017"/>
            <a:ext cx="326440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</a:t>
            </a:r>
            <a:r>
              <a:rPr lang="en-US" sz="28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成果展示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876799" y="1850315"/>
            <a:ext cx="3815379" cy="2168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0"/>
              </a:lnSpc>
              <a:buSzPct val="100000"/>
              <a:buChar char="•"/>
            </a:pPr>
            <a:endParaRPr lang="en-US" sz="2200" dirty="0">
              <a:solidFill>
                <a:srgbClr val="1F2937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itchFamily="34" charset="-120"/>
            </a:endParaRPr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2200" dirty="0" err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itchFamily="34" charset="-120"/>
              </a:rPr>
              <a:t>支援多支付方式整合</a:t>
            </a:r>
            <a:endParaRPr lang="en-US" sz="2200" dirty="0">
              <a:solidFill>
                <a:srgbClr val="1F2937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itchFamily="34" charset="-120"/>
            </a:endParaRPr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endParaRPr lang="en-US" sz="2200" dirty="0">
              <a:solidFill>
                <a:srgbClr val="1F2937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itchFamily="34" charset="-120"/>
            </a:endParaRPr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endParaRPr lang="en-US" sz="2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2200" dirty="0" err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itchFamily="34" charset="-120"/>
              </a:rPr>
              <a:t>高效的資料庫查詢</a:t>
            </a:r>
            <a:endParaRPr lang="en-US" sz="2200" dirty="0">
              <a:solidFill>
                <a:srgbClr val="1F2937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itchFamily="34" charset="-120"/>
            </a:endParaRPr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endParaRPr lang="en-US" sz="2200" dirty="0">
              <a:solidFill>
                <a:srgbClr val="1F2937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itchFamily="34" charset="-120"/>
            </a:endParaRPr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endParaRPr lang="en-US" sz="2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2200" dirty="0" err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itchFamily="34" charset="-120"/>
              </a:rPr>
              <a:t>前後端完整分離</a:t>
            </a:r>
            <a:endParaRPr lang="en-US" sz="2200" dirty="0">
              <a:solidFill>
                <a:srgbClr val="1F2937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itchFamily="34" charset="-120"/>
            </a:endParaRPr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endParaRPr lang="en-US" sz="2200" dirty="0">
              <a:solidFill>
                <a:srgbClr val="1F2937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itchFamily="34" charset="-120"/>
            </a:endParaRPr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endParaRPr lang="en-US" sz="2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itchFamily="34" charset="-120"/>
              </a:rPr>
              <a:t>生產環境可部署</a:t>
            </a:r>
            <a:endParaRPr lang="en-US" sz="2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0" y="2509838"/>
            <a:ext cx="571500" cy="38100"/>
          </a:xfrm>
          <a:prstGeom prst="rect">
            <a:avLst/>
          </a:prstGeom>
          <a:solidFill>
            <a:srgbClr val="F59E0B"/>
          </a:solidFill>
          <a:ln/>
        </p:spPr>
        <p:txBody>
          <a:bodyPr wrap="none" lIns="0" tIns="0" rIns="0" bIns="0" rtlCol="0" anchor="ctr">
            <a:normAutofit fontScale="25000" lnSpcReduction="20000"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5838" y="949672"/>
            <a:ext cx="4072173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68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感謝您的聆聽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015091" y="2028825"/>
            <a:ext cx="294061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40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</a:t>
            </a:r>
            <a:r>
              <a:rPr lang="en-US" sz="21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You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015091" y="3005138"/>
            <a:ext cx="3592920" cy="236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全端電商平台 - 完整系統整合成功！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86975" y="3614738"/>
            <a:ext cx="256990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80"/>
              </a:lnSpc>
              <a:buNone/>
            </a:pPr>
            <a:r>
              <a:rPr lang="en-US" sz="135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Eric, Vincent, Stone, Barry, Alex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923</Words>
  <Application>Microsoft Office PowerPoint</Application>
  <PresentationFormat>如螢幕大小 (16:9)</PresentationFormat>
  <Paragraphs>347</Paragraphs>
  <Slides>23</Slides>
  <Notes>22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23</vt:i4>
      </vt:variant>
    </vt:vector>
  </HeadingPairs>
  <TitlesOfParts>
    <vt:vector size="29" baseType="lpstr">
      <vt:lpstr>Microsoft YaHei</vt:lpstr>
      <vt:lpstr>Arial</vt:lpstr>
      <vt:lpstr>Calibri</vt:lpstr>
      <vt:lpstr>Courier New</vt:lpstr>
      <vt:lpstr>Office Theme</vt:lpstr>
      <vt:lpstr>Simple Light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Administrator</cp:lastModifiedBy>
  <cp:revision>3</cp:revision>
  <dcterms:created xsi:type="dcterms:W3CDTF">2025-11-26T05:47:40Z</dcterms:created>
  <dcterms:modified xsi:type="dcterms:W3CDTF">2025-12-03T04:32:33Z</dcterms:modified>
</cp:coreProperties>
</file>